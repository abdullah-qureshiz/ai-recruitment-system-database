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consolata Bold" panose="020B0604020202020204" charset="0"/>
      <p:regular r:id="rId13"/>
    </p:embeddedFont>
    <p:embeddedFont>
      <p:font typeface="Inconsolata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Montserrat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6" autoAdjust="0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149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34931"/>
            <a:ext cx="6603835" cy="4521200"/>
          </a:xfrm>
          <a:prstGeom prst="roundRect">
            <a:avLst>
              <a:gd name="adj" fmla="val 1348"/>
            </a:avLst>
          </a:prstGeom>
          <a:solidFill>
            <a:srgbClr val="F2EDE9"/>
          </a:solidFill>
          <a:ln/>
        </p:spPr>
      </p:sp>
      <p:sp>
        <p:nvSpPr>
          <p:cNvPr id="3" name="Text 1"/>
          <p:cNvSpPr/>
          <p:nvPr/>
        </p:nvSpPr>
        <p:spPr>
          <a:xfrm>
            <a:off x="628483" y="1390531"/>
            <a:ext cx="640064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DATABASE CASE STUDY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8483" y="1921669"/>
            <a:ext cx="5791055" cy="2438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67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Coinbase:</a:t>
            </a:r>
            <a:endParaRPr lang="en-US" sz="4800" dirty="0"/>
          </a:p>
          <a:p>
            <a:pPr marL="0" indent="0" algn="l">
              <a:lnSpc>
                <a:spcPct val="67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AI-Assisted</a:t>
            </a:r>
            <a:endParaRPr lang="en-US" sz="4800" dirty="0"/>
          </a:p>
          <a:p>
            <a:pPr marL="0" indent="0" algn="l">
              <a:lnSpc>
                <a:spcPct val="67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Recruitment</a:t>
            </a:r>
            <a:endParaRPr lang="en-US" sz="4800" dirty="0"/>
          </a:p>
          <a:p>
            <a:pPr marL="0" indent="0" algn="l">
              <a:lnSpc>
                <a:spcPct val="67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Management System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28483" y="4146630"/>
            <a:ext cx="640064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Subject: Database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8483" y="4475202"/>
            <a:ext cx="5791055" cy="626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3000"/>
              </a:lnSpc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Presented by: </a:t>
            </a:r>
            <a:r>
              <a:rPr lang="en-US" sz="1600" dirty="0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Noor Abbas,</a:t>
            </a:r>
            <a:r>
              <a:rPr lang="en-US" sz="1600" dirty="0"/>
              <a:t> Abdullah </a:t>
            </a:r>
            <a:r>
              <a:rPr lang="en-US" sz="1600" dirty="0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Jamil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/>
            </a:r>
            <a:b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</a:b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Roll Number : BSCS-113, BSCS-104</a:t>
            </a:r>
            <a:b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</a:b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Submitted to: </a:t>
            </a:r>
            <a:r>
              <a:rPr lang="en-US" sz="1600" dirty="0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Sir </a:t>
            </a:r>
            <a:r>
              <a:rPr lang="en-US" sz="1600" dirty="0" err="1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sharique</a:t>
            </a:r>
            <a:r>
              <a:rPr lang="en-US" sz="1600" dirty="0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br>
              <a:rPr lang="en-US" sz="1600" dirty="0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</a:br>
            <a:r>
              <a:rPr lang="en-US" sz="1600" dirty="0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Department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 </a:t>
            </a:r>
            <a:r>
              <a:rPr lang="en-US" sz="1600" dirty="0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Computer Science </a:t>
            </a:r>
            <a:br>
              <a:rPr lang="en-US" sz="1600" dirty="0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</a:br>
            <a:r>
              <a:rPr lang="en-US" sz="1600" dirty="0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endParaRPr lang="en-US" sz="1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172" y="880219"/>
            <a:ext cx="6807201" cy="4521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CASE FOR CENTRALIZATION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80583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Recruitment Data Needs One Reliable Record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324298"/>
            <a:ext cx="10972526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Coinbase is a cryptocurrency and financial technology company. Professional hiring generates candidates, resumes, vacancies, interviews, and decisions. A centralized database keeps recruitment information organized and connected.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448274"/>
            <a:ext cx="444489" cy="44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140697"/>
            <a:ext cx="160016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Job vacancy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09585" y="5463580"/>
            <a:ext cx="160016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Role requirements enter the system.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707" y="4328319"/>
            <a:ext cx="444489" cy="444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33707" y="5020741"/>
            <a:ext cx="160016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Candidate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3733707" y="5343624"/>
            <a:ext cx="1600160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Applications and resumes are linked.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828" y="4328319"/>
            <a:ext cx="444489" cy="444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7828" y="5020741"/>
            <a:ext cx="160016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Interview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6857828" y="5343624"/>
            <a:ext cx="1600160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Progress and scheduling stay visible.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1950" y="4328319"/>
            <a:ext cx="444489" cy="4445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981950" y="5020741"/>
            <a:ext cx="160016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Decision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9981950" y="5343624"/>
            <a:ext cx="1600160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record ends with a documented outcome.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18" name="Shape 12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02 / 10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77895" y="220861"/>
            <a:ext cx="172934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CASE NO. PL - 0426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29904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CURRENT FRICTION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80583"/>
            <a:ext cx="5689458" cy="201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Manual Recruitment Creates Gaps</a:t>
            </a:r>
            <a:endParaRPr lang="en-US" sz="4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994839"/>
            <a:ext cx="355591" cy="35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971" y="3007791"/>
            <a:ext cx="2082748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Resume screening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142971" y="3568105"/>
            <a:ext cx="2311342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Takes time.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908" y="2994839"/>
            <a:ext cx="355591" cy="355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16295" y="3007791"/>
            <a:ext cx="2082748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Interview scheduling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216295" y="3568105"/>
            <a:ext cx="2082748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Difficult to coordinate.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505345"/>
            <a:ext cx="355591" cy="355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2971" y="4518297"/>
            <a:ext cx="2082748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Records &amp; tracking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142971" y="5078611"/>
            <a:ext cx="2082748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Records can become outdated or duplicated. Application status is hard to track.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2908" y="4505345"/>
            <a:ext cx="355591" cy="355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216295" y="4518297"/>
            <a:ext cx="208274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Candidate privacy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4216295" y="4841180"/>
            <a:ext cx="2082748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Sensitive candidate data needs protection.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8627" y="0"/>
            <a:ext cx="5283068" cy="6648252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18" name="Shape 11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9" name="Text 12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03 / 10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77895" y="220861"/>
            <a:ext cx="172934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CASE NO. PL - 0426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3447964" y="2994819"/>
            <a:ext cx="12700" cy="128190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4" name="Shape 17"/>
          <p:cNvSpPr/>
          <p:nvPr/>
        </p:nvSpPr>
        <p:spPr>
          <a:xfrm>
            <a:off x="609585" y="4270375"/>
            <a:ext cx="2844729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Shape 18"/>
          <p:cNvSpPr/>
          <p:nvPr/>
        </p:nvSpPr>
        <p:spPr>
          <a:xfrm>
            <a:off x="3447964" y="4276725"/>
            <a:ext cx="12700" cy="176192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19"/>
          <p:cNvSpPr/>
          <p:nvPr/>
        </p:nvSpPr>
        <p:spPr>
          <a:xfrm>
            <a:off x="3454314" y="4270375"/>
            <a:ext cx="2844729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0"/>
          <p:cNvSpPr/>
          <p:nvPr/>
        </p:nvSpPr>
        <p:spPr>
          <a:xfrm>
            <a:off x="6902277" y="0"/>
            <a:ext cx="12700" cy="664825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04702"/>
            <a:ext cx="1158211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DESIGN PRINCIPLE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375685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Assists the Process. People Make the Decision.</a:t>
            </a:r>
            <a:endParaRPr lang="en-US" sz="4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819400"/>
          <a:ext cx="10972525" cy="2324242"/>
        </p:xfrm>
        <a:graphic>
          <a:graphicData uri="http://schemas.openxmlformats.org/drawingml/2006/table">
            <a:tbl>
              <a:tblPr/>
              <a:tblGrid>
                <a:gridCol w="2633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9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4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CAPABILITY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0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ROLE IN RECRUITMENT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0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4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Storage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Centralized storage for recruitment data.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4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Skill extraction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AI-assisted skill extraction from resumes.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4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Candidate matching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Candidate matching against job requirements.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4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Coordination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Interview scheduling and application tracking.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0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Human oversight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Human review remains required for final hiring decisions.</a:t>
                      </a:r>
                      <a:endParaRPr lang="en-US" sz="14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04 / 10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77895" y="220861"/>
            <a:ext cx="172934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CASE NO. PL - 0426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56928"/>
            <a:ext cx="1158211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DATABASE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727911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Six Tables Organize the Recruitment Record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3171627"/>
            <a:ext cx="10972526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Each table stores one category of recruitment information. Together, they create a connected record that can be queried and reported.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3790914"/>
            <a:ext cx="34289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Candidates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495688" y="3790914"/>
            <a:ext cx="320032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Jobs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53196" y="3790914"/>
            <a:ext cx="34289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Applications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4527514"/>
            <a:ext cx="34289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Interviews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95688" y="4527514"/>
            <a:ext cx="320032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Recruiters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53196" y="4527514"/>
            <a:ext cx="34289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Hiring Decisions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05 / 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7895" y="220861"/>
            <a:ext cx="172934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CASE NO. PL - 0426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60743" y="3775472"/>
            <a:ext cx="12700" cy="5080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18252" y="3775472"/>
            <a:ext cx="12700" cy="5080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5" y="4277122"/>
            <a:ext cx="3657509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260743" y="4283472"/>
            <a:ext cx="12700" cy="5080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267093" y="4277122"/>
            <a:ext cx="3657509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918252" y="4283472"/>
            <a:ext cx="12700" cy="5080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924602" y="4277122"/>
            <a:ext cx="3657509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36266"/>
            <a:ext cx="525766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RELATIONSHIP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507249"/>
            <a:ext cx="4648084" cy="268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Applications Connect Candidates to Jobs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4292005"/>
            <a:ext cx="4648084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application record is the bridge between a candidate and a vacancy. Interviews and hiring decisions then connect back to that application.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027" y="1690390"/>
            <a:ext cx="4648084" cy="28675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06 / 10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77895" y="220861"/>
            <a:ext cx="172934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CASE NO. PL - 0426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99418"/>
            <a:ext cx="525766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170401"/>
            <a:ext cx="4648084" cy="268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SQL Turns the Design into a Working Database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3955157"/>
            <a:ext cx="4648084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SQL creates tables, inserts records, retrieves information, and joins related data.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4559002"/>
            <a:ext cx="4648084" cy="78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CREATE DATABASE creates the database.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SELECT retrieves stored records.</a:t>
            </a:r>
            <a:endParaRPr lang="en-US" sz="1400" dirty="0"/>
          </a:p>
          <a:p>
            <a:pPr marL="284480" indent="-28448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JOIN combines related table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24442" y="0"/>
            <a:ext cx="5867253" cy="6248400"/>
          </a:xfrm>
          <a:prstGeom prst="rect">
            <a:avLst/>
          </a:prstGeom>
          <a:solidFill>
            <a:srgbClr val="151617"/>
          </a:solidFill>
          <a:ln/>
          <a:effectLst>
            <a:innerShdw blurRad="114300">
              <a:prstClr val="black"/>
            </a:innerShdw>
          </a:effectLst>
        </p:spPr>
      </p:sp>
      <p:sp>
        <p:nvSpPr>
          <p:cNvPr id="7" name="Text 5"/>
          <p:cNvSpPr/>
          <p:nvPr/>
        </p:nvSpPr>
        <p:spPr>
          <a:xfrm>
            <a:off x="6680033" y="719435"/>
            <a:ext cx="551166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SQL STATEMENTS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80033" y="1023243"/>
            <a:ext cx="5156071" cy="96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95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CREATE DATABASE CoinbaseRecruitment;</a:t>
            </a:r>
            <a:endParaRPr lang="en-US" sz="1400" dirty="0"/>
          </a:p>
          <a:p>
            <a:pPr marL="0" indent="0" algn="l">
              <a:lnSpc>
                <a:spcPct val="112000"/>
              </a:lnSpc>
              <a:spcAft>
                <a:spcPts val="95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 CoinbaseRecruitment;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SELECT * FROM Candidates;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07 / 10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7895" y="220861"/>
            <a:ext cx="172934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CASE NO. PL - 0426</a:t>
            </a:r>
            <a:endParaRPr lang="en-US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6975566" y="3124200"/>
            <a:ext cx="377167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SELECT </a:t>
            </a:r>
            <a:r>
              <a:rPr lang="en-US" dirty="0" err="1">
                <a:solidFill>
                  <a:schemeClr val="bg1"/>
                </a:solidFill>
              </a:rPr>
              <a:t>C.full_name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J.job_title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FROM Applications A</a:t>
            </a:r>
          </a:p>
          <a:p>
            <a:r>
              <a:rPr lang="en-US" dirty="0">
                <a:solidFill>
                  <a:schemeClr val="bg1"/>
                </a:solidFill>
              </a:rPr>
              <a:t>JOIN Candidates C</a:t>
            </a:r>
          </a:p>
          <a:p>
            <a:r>
              <a:rPr lang="en-US" dirty="0">
                <a:solidFill>
                  <a:schemeClr val="bg1"/>
                </a:solidFill>
              </a:rPr>
              <a:t>    ON </a:t>
            </a:r>
            <a:r>
              <a:rPr lang="en-US" dirty="0" err="1">
                <a:solidFill>
                  <a:schemeClr val="bg1"/>
                </a:solidFill>
              </a:rPr>
              <a:t>A.candidate_id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 err="1">
                <a:solidFill>
                  <a:schemeClr val="bg1"/>
                </a:solidFill>
              </a:rPr>
              <a:t>C.candidate_id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JOIN Jobs J</a:t>
            </a:r>
          </a:p>
          <a:p>
            <a:r>
              <a:rPr lang="en-US" dirty="0">
                <a:solidFill>
                  <a:schemeClr val="bg1"/>
                </a:solidFill>
              </a:rPr>
              <a:t>    ON </a:t>
            </a:r>
            <a:r>
              <a:rPr lang="en-US" dirty="0" err="1">
                <a:solidFill>
                  <a:schemeClr val="bg1"/>
                </a:solidFill>
              </a:rPr>
              <a:t>A.job_id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 err="1">
                <a:solidFill>
                  <a:schemeClr val="bg1"/>
                </a:solidFill>
              </a:rPr>
              <a:t>J.job_id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2151" y="297330"/>
            <a:ext cx="1158211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REPORTING </a:t>
            </a:r>
            <a:r>
              <a:rPr lang="en-US" sz="1050" kern="100" spc="63" dirty="0" smtClean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LAYER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6704" y="657072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Reports </a:t>
            </a:r>
            <a:r>
              <a:rPr lang="en-US" sz="4800" b="1" dirty="0" smtClean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Turn</a:t>
            </a:r>
            <a:br>
              <a:rPr lang="en-US" sz="4800" b="1" dirty="0" smtClean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</a:br>
            <a:r>
              <a:rPr lang="en-US" sz="4800" b="1" dirty="0" smtClean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Recruitment </a:t>
            </a:r>
            <a:r>
              <a:rPr lang="en-US" sz="4800" b="1" dirty="0" smtClean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/>
            </a:r>
            <a:br>
              <a:rPr lang="en-US" sz="4800" b="1" dirty="0" smtClean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</a:br>
            <a:r>
              <a:rPr lang="en-US" sz="4800" b="1" dirty="0" smtClean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</a:t>
            </a: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into Insight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324298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Once the records are connected, reports can show where applications are moving, where they stall, and what outcomes follow.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688134"/>
            <a:ext cx="3454314" cy="1746151"/>
          </a:xfrm>
          <a:prstGeom prst="roundRect">
            <a:avLst>
              <a:gd name="adj" fmla="val 4276"/>
            </a:avLst>
          </a:prstGeom>
          <a:noFill/>
          <a:ln w="19050">
            <a:solidFill>
              <a:srgbClr val="CCCCC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29" y="2935784"/>
            <a:ext cx="355591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7229" y="3383731"/>
            <a:ext cx="295902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Applicants per job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57229" y="3706614"/>
            <a:ext cx="320667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Compare demand across vacancies.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11542" y="2783384"/>
            <a:ext cx="3454314" cy="1746151"/>
          </a:xfrm>
          <a:prstGeom prst="roundRect">
            <a:avLst>
              <a:gd name="adj" fmla="val 4276"/>
            </a:avLst>
          </a:prstGeom>
          <a:noFill/>
          <a:ln w="19050">
            <a:solidFill>
              <a:srgbClr val="CCCCCC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255" y="2833560"/>
            <a:ext cx="355591" cy="355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16255" y="3317102"/>
            <a:ext cx="295902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Interview completion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3816255" y="3639985"/>
            <a:ext cx="2959026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Track interviews that reach completion.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27797" y="2688134"/>
            <a:ext cx="3454314" cy="1746151"/>
          </a:xfrm>
          <a:prstGeom prst="roundRect">
            <a:avLst>
              <a:gd name="adj" fmla="val 4276"/>
            </a:avLst>
          </a:prstGeom>
          <a:noFill/>
          <a:ln w="19050">
            <a:solidFill>
              <a:srgbClr val="CCCCCC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887" y="2830154"/>
            <a:ext cx="355591" cy="355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95887" y="3278101"/>
            <a:ext cx="295902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Recruitment time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495887" y="3600984"/>
            <a:ext cx="2959026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Review the time taken across stages.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09585" y="4558109"/>
            <a:ext cx="5333867" cy="1506141"/>
          </a:xfrm>
          <a:prstGeom prst="roundRect">
            <a:avLst>
              <a:gd name="adj" fmla="val 4958"/>
            </a:avLst>
          </a:prstGeom>
          <a:noFill/>
          <a:ln w="19050">
            <a:solidFill>
              <a:srgbClr val="CCCCC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29" y="4805759"/>
            <a:ext cx="355591" cy="355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7229" y="5253707"/>
            <a:ext cx="483857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Hiring outcomes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857229" y="5576590"/>
            <a:ext cx="5086223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Summarize documented decisions.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3176034" y="4674961"/>
            <a:ext cx="5333867" cy="1506141"/>
          </a:xfrm>
          <a:prstGeom prst="roundRect">
            <a:avLst>
              <a:gd name="adj" fmla="val 4958"/>
            </a:avLst>
          </a:prstGeom>
          <a:noFill/>
          <a:ln w="19050">
            <a:solidFill>
              <a:srgbClr val="CCCCCC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3917" y="4819837"/>
            <a:ext cx="355591" cy="355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73917" y="5267785"/>
            <a:ext cx="483857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Application status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3973917" y="5590668"/>
            <a:ext cx="5086223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See each candidate's current stage.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26" name="Shape 19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08 / 10</a:t>
            </a:r>
            <a:endParaRPr lang="en-US" sz="1000" dirty="0"/>
          </a:p>
        </p:txBody>
      </p:sp>
      <p:sp>
        <p:nvSpPr>
          <p:cNvPr id="31" name="Rectangle 30"/>
          <p:cNvSpPr/>
          <p:nvPr/>
        </p:nvSpPr>
        <p:spPr>
          <a:xfrm>
            <a:off x="6847606" y="79417"/>
            <a:ext cx="4603470" cy="21176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SELECT </a:t>
            </a:r>
            <a:r>
              <a:rPr lang="en-US" dirty="0" err="1"/>
              <a:t>C.full_name</a:t>
            </a:r>
            <a:r>
              <a:rPr lang="en-US" dirty="0"/>
              <a:t>, </a:t>
            </a:r>
            <a:r>
              <a:rPr lang="en-US" dirty="0" err="1"/>
              <a:t>J.job_title</a:t>
            </a:r>
            <a:endParaRPr lang="en-US" dirty="0"/>
          </a:p>
          <a:p>
            <a:r>
              <a:rPr lang="en-US" dirty="0"/>
              <a:t>FROM Applications A</a:t>
            </a:r>
          </a:p>
          <a:p>
            <a:r>
              <a:rPr lang="en-US" dirty="0"/>
              <a:t>JOIN Candidates C</a:t>
            </a:r>
          </a:p>
          <a:p>
            <a:r>
              <a:rPr lang="en-US" dirty="0"/>
              <a:t>    ON </a:t>
            </a:r>
            <a:r>
              <a:rPr lang="en-US" dirty="0" err="1"/>
              <a:t>A.candidate_id</a:t>
            </a:r>
            <a:r>
              <a:rPr lang="en-US" dirty="0"/>
              <a:t> = </a:t>
            </a:r>
            <a:r>
              <a:rPr lang="en-US" dirty="0" err="1"/>
              <a:t>C.candidate_id</a:t>
            </a:r>
            <a:endParaRPr lang="en-US" dirty="0"/>
          </a:p>
          <a:p>
            <a:r>
              <a:rPr lang="en-US" dirty="0"/>
              <a:t>JOIN Jobs J</a:t>
            </a:r>
          </a:p>
          <a:p>
            <a:r>
              <a:rPr lang="en-US" dirty="0"/>
              <a:t>    ON </a:t>
            </a:r>
            <a:r>
              <a:rPr lang="en-US" dirty="0" err="1"/>
              <a:t>A.job_id</a:t>
            </a:r>
            <a:r>
              <a:rPr lang="en-US" dirty="0"/>
              <a:t> = </a:t>
            </a:r>
            <a:r>
              <a:rPr lang="en-US" dirty="0" err="1"/>
              <a:t>J.job_id</a:t>
            </a:r>
            <a:r>
              <a:rPr lang="en-US" dirty="0"/>
              <a:t>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5552" y="4397206"/>
            <a:ext cx="3728920" cy="138928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SELECT status, COUNT(*) AS </a:t>
            </a:r>
            <a:r>
              <a:rPr lang="en-US" sz="1400" dirty="0" err="1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total_interviews</a:t>
            </a:r>
            <a:endParaRPr lang="en-US" sz="14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FROM Interviews</a:t>
            </a:r>
          </a:p>
          <a:p>
            <a:r>
              <a:rPr lang="en-US" sz="14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GROUP BY status;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50223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80583"/>
            <a:ext cx="5892653" cy="201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Candidate Data Requires Strong Controls</a:t>
            </a:r>
            <a:endParaRPr lang="en-US" sz="4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994819"/>
            <a:ext cx="355591" cy="35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442766"/>
            <a:ext cx="279393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Access controls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09585" y="3765649"/>
            <a:ext cx="2793930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Apply appropriate access controls. Prevent unauthorized access.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8307" y="2994819"/>
            <a:ext cx="355591" cy="355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08307" y="3442766"/>
            <a:ext cx="279393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Privacy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3708307" y="3765649"/>
            <a:ext cx="279393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Protect candidate personal information.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790480"/>
            <a:ext cx="355591" cy="355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9585" y="5238427"/>
            <a:ext cx="279393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Transparency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609585" y="5561310"/>
            <a:ext cx="279393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Record AI-generated recommendations transparently.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8307" y="4790480"/>
            <a:ext cx="355591" cy="355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708307" y="5238427"/>
            <a:ext cx="279393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Human oversight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708307" y="5561310"/>
            <a:ext cx="279393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Keep final hiring decisions subject to human review.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1822" y="0"/>
            <a:ext cx="5079873" cy="665093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18" name="Shape 11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9" name="Text 12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09 / 10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77895" y="220861"/>
            <a:ext cx="172934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CASE NO. PL - 0426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7105472" y="0"/>
            <a:ext cx="12700" cy="66509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990600"/>
            <a:ext cx="6603835" cy="4749800"/>
          </a:xfrm>
          <a:prstGeom prst="roundRect">
            <a:avLst>
              <a:gd name="adj" fmla="val 1283"/>
            </a:avLst>
          </a:prstGeom>
          <a:solidFill>
            <a:srgbClr val="F2EDE9"/>
          </a:solidFill>
          <a:ln/>
        </p:spPr>
      </p:sp>
      <p:sp>
        <p:nvSpPr>
          <p:cNvPr id="3" name="Text 1"/>
          <p:cNvSpPr/>
          <p:nvPr/>
        </p:nvSpPr>
        <p:spPr>
          <a:xfrm>
            <a:off x="1142971" y="1371600"/>
            <a:ext cx="634984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100" spc="63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FINAL TAKEAWAY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42971" y="1877338"/>
            <a:ext cx="5740256" cy="1950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67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Centralized Database Makes Recruitment Consistent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2971" y="3959423"/>
            <a:ext cx="5740256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Centralized storage organizes recruitment records. Relationships maintain consistency between tables. SQL supports retrieval and reporting. AI can assist routine tasks, while privacy, security, and human oversight remain essential.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2971" y="5043289"/>
            <a:ext cx="6349841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Thank You — Questions &amp; Answers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677</Words>
  <Application>Microsoft Office PowerPoint</Application>
  <PresentationFormat>Widescreen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Inconsolata Bold</vt:lpstr>
      <vt:lpstr>Inconsolata</vt:lpstr>
      <vt:lpstr>Calibri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noor jafri</cp:lastModifiedBy>
  <cp:revision>5</cp:revision>
  <dcterms:created xsi:type="dcterms:W3CDTF">2026-10-15T15:41:32Z</dcterms:created>
  <dcterms:modified xsi:type="dcterms:W3CDTF">2026-10-15T17:38:04Z</dcterms:modified>
</cp:coreProperties>
</file>